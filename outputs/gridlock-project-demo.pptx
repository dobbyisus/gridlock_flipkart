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881fe90f1448b" /><Relationship Type="http://schemas.openxmlformats.org/officeDocument/2006/relationships/extended-properties" Target="/docProps/app.xml" Id="R4ef721929f954f29" /><Relationship Type="http://schemas.openxmlformats.org/officeDocument/2006/relationships/officeDocument" Target="/ppt/presentation.xml" Id="R8620016149bb44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cf71835e3e476c"/>
  </p:sldMasterIdLst>
  <p:notesMasterIdLst>
    <p:notesMasterId xmlns:r="http://schemas.openxmlformats.org/officeDocument/2006/relationships" r:id="R6b22b52ae86c4d53"/>
  </p:notesMasterIdLst>
  <p:sldIdLst>
    <p:sldId xmlns:r="http://schemas.openxmlformats.org/officeDocument/2006/relationships" id="256" r:id="Rc1e22b84e3564dd1"/>
    <p:sldId xmlns:r="http://schemas.openxmlformats.org/officeDocument/2006/relationships" id="257" r:id="R4a40c2bc1e5b48d4"/>
    <p:sldId xmlns:r="http://schemas.openxmlformats.org/officeDocument/2006/relationships" id="258" r:id="R0948d1201d744099"/>
    <p:sldId xmlns:r="http://schemas.openxmlformats.org/officeDocument/2006/relationships" id="259" r:id="R6e3adbd0b89c4bd5"/>
    <p:sldId xmlns:r="http://schemas.openxmlformats.org/officeDocument/2006/relationships" id="260" r:id="R84e2e53d14da4156"/>
    <p:sldId xmlns:r="http://schemas.openxmlformats.org/officeDocument/2006/relationships" id="261" r:id="Ra71de7441ed748b4"/>
    <p:sldId xmlns:r="http://schemas.openxmlformats.org/officeDocument/2006/relationships" id="262" r:id="Rbef6f465727e46dd"/>
    <p:sldId xmlns:r="http://schemas.openxmlformats.org/officeDocument/2006/relationships" id="263" r:id="R8266da774d284451"/>
    <p:sldId xmlns:r="http://schemas.openxmlformats.org/officeDocument/2006/relationships" id="264" r:id="Rdeb95d21a526446e"/>
    <p:sldId xmlns:r="http://schemas.openxmlformats.org/officeDocument/2006/relationships" id="265" r:id="Ra0c9a298eb0647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72e5390b94b9f" /><Relationship Type="http://schemas.openxmlformats.org/officeDocument/2006/relationships/slideMaster" Target="/ppt/slideMasters/slideMaster1.xml" Id="Rd9cf71835e3e476c" /><Relationship Type="http://schemas.openxmlformats.org/officeDocument/2006/relationships/notesMaster" Target="/ppt/notesMasters/notesMaster1.xml" Id="R6b22b52ae86c4d53" /><Relationship Type="http://schemas.openxmlformats.org/officeDocument/2006/relationships/presProps" Target="/ppt/presProps.xml" Id="Rd8a5f6c440e04770" /><Relationship Type="http://schemas.openxmlformats.org/officeDocument/2006/relationships/tableStyles" Target="/ppt/tableStyles.xml" Id="Rf7956efb8b524512" /><Relationship Type="http://schemas.openxmlformats.org/officeDocument/2006/relationships/slide" Target="/ppt/slides/slide1.xml" Id="Rc1e22b84e3564dd1" /><Relationship Type="http://schemas.openxmlformats.org/officeDocument/2006/relationships/slide" Target="/ppt/slides/slide2.xml" Id="R4a40c2bc1e5b48d4" /><Relationship Type="http://schemas.openxmlformats.org/officeDocument/2006/relationships/slide" Target="/ppt/slides/slide3.xml" Id="R0948d1201d744099" /><Relationship Type="http://schemas.openxmlformats.org/officeDocument/2006/relationships/slide" Target="/ppt/slides/slide4.xml" Id="R6e3adbd0b89c4bd5" /><Relationship Type="http://schemas.openxmlformats.org/officeDocument/2006/relationships/slide" Target="/ppt/slides/slide5.xml" Id="R84e2e53d14da4156" /><Relationship Type="http://schemas.openxmlformats.org/officeDocument/2006/relationships/slide" Target="/ppt/slides/slide6.xml" Id="Ra71de7441ed748b4" /><Relationship Type="http://schemas.openxmlformats.org/officeDocument/2006/relationships/slide" Target="/ppt/slides/slide7.xml" Id="Rbef6f465727e46dd" /><Relationship Type="http://schemas.openxmlformats.org/officeDocument/2006/relationships/slide" Target="/ppt/slides/slide8.xml" Id="R8266da774d284451" /><Relationship Type="http://schemas.openxmlformats.org/officeDocument/2006/relationships/slide" Target="/ppt/slides/slide9.xml" Id="Rdeb95d21a526446e" /><Relationship Type="http://schemas.openxmlformats.org/officeDocument/2006/relationships/slide" Target="/ppt/slides/slide10.xml" Id="Ra0c9a298eb06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c3a4887a88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32b4adc164783" /><Relationship Type="http://schemas.openxmlformats.org/officeDocument/2006/relationships/notesMaster" Target="/ppt/notesMasters/notesMaster1.xml" Id="R3955bcfe3d0c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45716841834c91" /><Relationship Type="http://schemas.openxmlformats.org/officeDocument/2006/relationships/notesMaster" Target="/ppt/notesMasters/notesMaster1.xml" Id="Rbe8d4212811c41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d02827e1e44364" /><Relationship Type="http://schemas.openxmlformats.org/officeDocument/2006/relationships/notesMaster" Target="/ppt/notesMasters/notesMaster1.xml" Id="Rd98dabbab561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e403036084d82" /><Relationship Type="http://schemas.openxmlformats.org/officeDocument/2006/relationships/notesMaster" Target="/ppt/notesMasters/notesMaster1.xml" Id="R8ddc3da462b6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65b89162b545ae" /><Relationship Type="http://schemas.openxmlformats.org/officeDocument/2006/relationships/notesMaster" Target="/ppt/notesMasters/notesMaster1.xml" Id="R77887007cf9346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474dc80d24c63" /><Relationship Type="http://schemas.openxmlformats.org/officeDocument/2006/relationships/notesMaster" Target="/ppt/notesMasters/notesMaster1.xml" Id="Rdab0aaf3c29640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ee7924f76e41c6" /><Relationship Type="http://schemas.openxmlformats.org/officeDocument/2006/relationships/notesMaster" Target="/ppt/notesMasters/notesMaster1.xml" Id="R72ebe1f35ede4a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28b3bcbb894ee1" /><Relationship Type="http://schemas.openxmlformats.org/officeDocument/2006/relationships/notesMaster" Target="/ppt/notesMasters/notesMaster1.xml" Id="R27107fa9f93443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17f98797074855" /><Relationship Type="http://schemas.openxmlformats.org/officeDocument/2006/relationships/notesMaster" Target="/ppt/notesMasters/notesMaster1.xml" Id="R16c513ac0f2c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3e87582e6d429e" /><Relationship Type="http://schemas.openxmlformats.org/officeDocument/2006/relationships/notesMaster" Target="/ppt/notesMasters/notesMaster1.xml" Id="R0624715ce96541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3d08cde264a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67cc4706944e28" /><Relationship Type="http://schemas.openxmlformats.org/officeDocument/2006/relationships/slideLayout" Target="/ppt/slideLayouts/slideLayout1.xml" Id="Rdb80c527de1345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0c527de1345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e094ce9da44ab" /><Relationship Type="http://schemas.openxmlformats.org/officeDocument/2006/relationships/notesSlide" Target="/ppt/notesSlides/notesSlide1.xml" Id="Rcb6d2894c23947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da48e2c0542c2" /><Relationship Type="http://schemas.openxmlformats.org/officeDocument/2006/relationships/notesSlide" Target="/ppt/notesSlides/notesSlide2.xml" Id="R1883a5d079fb4d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783faf5eb462e" /><Relationship Type="http://schemas.openxmlformats.org/officeDocument/2006/relationships/notesSlide" Target="/ppt/notesSlides/notesSlide3.xml" Id="Rbdfb89980cf149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925b12f5449b0" /><Relationship Type="http://schemas.openxmlformats.org/officeDocument/2006/relationships/notesSlide" Target="/ppt/notesSlides/notesSlide4.xml" Id="Rb2a18f20f36e49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f2c9cafdd4cfd" /><Relationship Type="http://schemas.openxmlformats.org/officeDocument/2006/relationships/notesSlide" Target="/ppt/notesSlides/notesSlide5.xml" Id="Rac1f6c41585a4c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77330bdd14acf" /><Relationship Type="http://schemas.openxmlformats.org/officeDocument/2006/relationships/chart" Target="/ppt/slides/charts/chart1.xml" Id="R99d7f27557a24ae9" /><Relationship Type="http://schemas.openxmlformats.org/officeDocument/2006/relationships/notesSlide" Target="/ppt/notesSlides/notesSlide6.xml" Id="R96fc7438f6aa4e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46e595c8e4aea" /><Relationship Type="http://schemas.openxmlformats.org/officeDocument/2006/relationships/notesSlide" Target="/ppt/notesSlides/notesSlide7.xml" Id="Rb724aff3a5db4f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f693c5854ac6" /><Relationship Type="http://schemas.openxmlformats.org/officeDocument/2006/relationships/notesSlide" Target="/ppt/notesSlides/notesSlide8.xml" Id="Rc067bec497654d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b0c6ca09e4e3d" /><Relationship Type="http://schemas.openxmlformats.org/officeDocument/2006/relationships/notesSlide" Target="/ppt/notesSlides/notesSlide9.xml" Id="Rd3a3715334d745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7998b35f74c41" /><Relationship Type="http://schemas.openxmlformats.org/officeDocument/2006/relationships/notesSlide" Target="/ppt/notesSlides/notesSlide10.xml" Id="R63ec8d06122a4ba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1E4FA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Impact</c:v>
              </c:pt>
              <c:pt idx="1">
                <c:v>Route</c:v>
              </c:pt>
              <c:pt idx="2">
                <c:v>Learning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4</c:v>
              </c:pt>
              <c:pt idx="2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24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3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4F"/>
            </a:gs>
            <a:gs pos="42000">
              <a:srgbClr val="0A2A73"/>
            </a:gs>
            <a:gs pos="100000">
              <a:srgbClr val="1E4FA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63CAB5-CC71-42E6-A8C6-66A0FBF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25000"/>
                </a:srgbClr>
              </a:gs>
              <a:gs pos="45000">
                <a:srgbClr val="3A78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6E8D9-1115-4D27-BB47-84F1950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191000" cy="2476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2C1A7">
                  <a:alpha val="25000"/>
                </a:srgbClr>
              </a:gs>
              <a:gs pos="75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49388-7268-4D4D-AD80-80F685DE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CITY OPS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C509E-CAEC-48D2-AB23-E48F604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4650" b="1" i="0">
                <a:solidFill>
                  <a:srgbClr val="FFFFFF">
                    <a:alpha val="100000"/>
                  </a:srgbClr>
                </a:solidFill>
              </a:rPr>
              <a:t>GridLock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8C167-F4ED-4BAD-9265-2F3B03BA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>
                    <a:alpha val="100000"/>
                  </a:srgbClr>
                </a:solidFill>
              </a:defRPr>
            </a:pPr>
            <a:r>
              <a:rPr sz="2100" b="0" i="0">
                <a:solidFill>
                  <a:srgbClr val="FFFFFF">
                    <a:alpha val="100000"/>
                  </a:srgbClr>
                </a:solidFill>
              </a:rPr>
              <a:t>Adaptive traffic intelligence for city command centers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360BD-3A54-4AF9-817A-506A7082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7EEFF">
                    <a:alpha val="100000"/>
                  </a:srgbClr>
                </a:solidFill>
              </a:defRPr>
            </a:pPr>
            <a:r>
              <a:rPr sz="1575" b="0" i="0">
                <a:solidFill>
                  <a:srgbClr val="E7EEFF">
                    <a:alpha val="100000"/>
                  </a:srgbClr>
                </a:solidFill>
              </a:rPr>
              <a:t>One live command surface for hotspot monitoring, field deployment, route decisions, and weekly learning.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C86F4-F397-4535-AEC9-BE9D288A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3771900" cy="4629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8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0CFD1-71D4-4A02-83EA-ED96B09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573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>
                    <a:alpha val="100000"/>
                  </a:srgbClr>
                </a:solidFill>
              </a:defRPr>
            </a:pPr>
            <a:r>
              <a:rPr sz="900" b="1" i="0">
                <a:solidFill>
                  <a:srgbClr val="64748B">
                    <a:alpha val="100000"/>
                  </a:srgbClr>
                </a:solidFill>
              </a:rPr>
              <a:t>LIVE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83978-D3F5-4B7C-80F4-FF802DB4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43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Command UI preview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CEA77-20E9-4BEE-BFB1-ADACAB3A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95400"/>
            <a:ext cx="1162050" cy="3829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BDCB4-A5E6-4D14-BE86-9D5B86B4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9540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gradFill xmlns:a="http://schemas.openxmlformats.org/drawingml/2006/main">
            <a:gsLst>
              <a:gs pos="0">
                <a:srgbClr val="F7F8FB"/>
              </a:gs>
              <a:gs pos="100000">
                <a:srgbClr val="EBF2FF"/>
              </a:gs>
            </a:gsLst>
            <a:lin ang="10800000"/>
          </a:gra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59C65-5C49-473E-A491-770BA09E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000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1DA10-3FCD-4135-952F-4A1A801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619250"/>
            <a:ext cx="8763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A2A73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60C58-42AC-4FE2-8CA9-5DA342D3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28900"/>
            <a:ext cx="8763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82830-D293-4AB8-8420-009CDDFF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38550"/>
            <a:ext cx="8763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332ED-D37F-4C5B-94DD-A217E4A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47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1A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DC48E-786A-4234-9A1B-FA86919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F4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67443-5917-43B0-BFBE-AEE0716E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D3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5595E-FF63-48C7-B90B-70C851A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3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26DFC-0016-4B9D-B8B3-92995A9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57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>
                    <a:alpha val="100000"/>
                  </a:srgbClr>
                </a:solidFill>
              </a:defRPr>
            </a:pPr>
            <a:r>
              <a:rPr sz="900" b="1" i="0">
                <a:solidFill>
                  <a:srgbClr val="64748B">
                    <a:alpha val="100000"/>
                  </a:srgbClr>
                </a:solidFill>
              </a:rPr>
              <a:t>Priority Hotspot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24F85-308E-42BA-9258-37F9C23E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862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500" b="1" i="0">
                <a:solidFill>
                  <a:srgbClr val="10224F">
                    <a:alpha val="100000"/>
                  </a:srgbClr>
                </a:solidFill>
              </a:rPr>
              <a:t>Impact 82 • Critical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E2590-549D-49BC-9673-F6BFE78A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050" b="0" i="0">
                <a:solidFill>
                  <a:srgbClr val="64748B">
                    <a:alpha val="100000"/>
                  </a:srgbClr>
                </a:solidFill>
              </a:rPr>
              <a:t>22 officers • 30 barricades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D94A1-F78F-41B0-B807-2C15330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• Project Demo Deck</a:t>
            </a:r>
          </a:p>
        </p:txBody>
      </p:sp>
    </p:spTree>
    <p:extLst>
      <p:ext uri="{BB962C8B-B14F-4D97-AF65-F5344CB8AC3E}">
        <p14:creationId xmlns:p14="http://schemas.microsoft.com/office/powerpoint/2010/main" val="1292377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27018-2738-454F-9F9C-531B7518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8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3A78FF">
                    <a:alpha val="100000"/>
                  </a:srgbClr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2FE61-7409-4FEF-884D-14C88359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2400" b="1" i="0">
                <a:solidFill>
                  <a:srgbClr val="10224F">
                    <a:alpha val="100000"/>
                  </a:srgbClr>
                </a:solidFill>
              </a:rPr>
              <a:t>Traffic ops are still reactive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73B7B-397A-4685-B67C-543FD385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Cities need one place to monitor incidents, coordinate response, and learn from every disruption.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8B910-2109-4356-B623-C61F9C68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352800" cy="2743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AF998-8B9E-42D2-8E15-1E85EA16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Fragmented tooling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A28AF-5CE3-404E-B3A7-133E4ADC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74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425" b="0" i="0">
                <a:solidFill>
                  <a:srgbClr val="64748B">
                    <a:alpha val="100000"/>
                  </a:srgbClr>
                </a:solidFill>
              </a:rPr>
              <a:t>Event feeds, maps, and field decisions are split across disconnected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02CF4-C2E7-43D1-B840-870D1D3E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3FBD6-6D33-4691-8DB8-728909F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352800" cy="27432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F9FBFF"/>
              </a:gs>
              <a:gs pos="100000">
                <a:srgbClr val="EDF4FF"/>
              </a:gs>
            </a:gsLst>
            <a:lin ang="10800000"/>
          </a:gradFill>
          <a:ln xmlns:a="http://schemas.openxmlformats.org/drawingml/2006/main" w="9525">
            <a:solidFill>
              <a:srgbClr val="CF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FBBF1-E7FF-466B-8D04-08DF04AF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Slow response loops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3728F-E5F3-46A9-80BF-BA19336A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274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425" b="0" i="0">
                <a:solidFill>
                  <a:srgbClr val="64748B">
                    <a:alpha val="100000"/>
                  </a:srgbClr>
                </a:solidFill>
              </a:rPr>
              <a:t>Operators lose time deciding severity, deployment levels, and diversion strategy.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5B16E-7929-47F1-ACF5-D13FF95A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7735F-62BA-411A-BD98-2D63AE6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352800" cy="2743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A4986-01D2-4A62-A7DB-FA1751E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No learning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6E8AA-DC19-4AA1-9EA6-DD5BFF1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74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425" b="0" i="0">
                <a:solidFill>
                  <a:srgbClr val="64748B">
                    <a:alpha val="100000"/>
                  </a:srgbClr>
                </a:solidFill>
              </a:rPr>
              <a:t>What actually happened in the field rarely improves the next recommendation cycle.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85214-0776-498C-A2FB-7E5C7F93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4D548-63CB-4941-8F6B-D3C6F66F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Project Demo</a:t>
            </a:r>
          </a:p>
        </p:txBody>
      </p:sp>
    </p:spTree>
    <p:extLst>
      <p:ext uri="{BB962C8B-B14F-4D97-AF65-F5344CB8AC3E}">
        <p14:creationId xmlns:p14="http://schemas.microsoft.com/office/powerpoint/2010/main" val="2134639657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8FB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9DB37C-2F8A-46AE-A969-B96789F8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8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3A78FF">
                    <a:alpha val="100000"/>
                  </a:srgbClr>
                </a:solidFill>
              </a:rPr>
              <a:t>PRODUCT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2909E-3E32-445E-99DA-5AF58F8F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2400" b="1" i="0">
                <a:solidFill>
                  <a:srgbClr val="10224F">
                    <a:alpha val="100000"/>
                  </a:srgbClr>
                </a:solidFill>
              </a:rPr>
              <a:t>One operating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9A0D6-2411-4789-AF1A-4942A3D9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GridLock combines live monitoring, response recommendations, route decisions, and a learning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DA287-B28B-4659-8109-4093AB98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266700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0A2A73"/>
          </a:solidFill>
          <a:ln xmlns:a="http://schemas.openxmlformats.org/drawingml/2006/main" w="9525">
            <a:solidFill>
              <a:srgbClr val="0A2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6E529-9F97-4226-828F-B493A31E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2250" b="1" i="0">
                <a:solidFill>
                  <a:srgbClr val="FFFFFF">
                    <a:alpha val="100000"/>
                  </a:srgbClr>
                </a:solidFill>
              </a:rPr>
              <a:t>GridLock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19D36-D932-4F9D-AFC4-DD0C1AB1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956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E7EEFF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E7EEFF">
                    <a:alpha val="100000"/>
                  </a:srgbClr>
                </a:solidFill>
              </a:rPr>
              <a:t>Command UI + Engine + Weekly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00DBB-64AC-4574-A965-5B922414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724150" cy="12954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C005D-82B0-440C-BA84-7C572262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BD04F-107D-4A5D-B0B5-D2E5C3F2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Hotspot feed, calendar windows, live severity.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260EC-8C43-4121-BAF3-2606FA76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724150" cy="12954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CC6A7-DDAA-4EC2-AD57-DF4E6DF9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Respond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E25DD-5A2D-4809-90E6-EFDAA9A2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Officers, barricades, station alignment, diversions.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2BBEF-07B4-4D01-96B3-A5412E19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24150" cy="12954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8B47C-7A04-4724-B749-99B66624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036BF-A262-4A07-81D5-669D1EA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Alternative paths around impacted corridors.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43DE1-00A6-4E69-888F-B13DF5AA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2724150" cy="12954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8F112-5D34-453D-B878-1EB54282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1A4FB-3485-4DF6-B10A-51ABF198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Weekly review, correction summary, retraining.</a:t>
            </a:r>
          </a:p>
        </p:txBody>
      </p:sp>
      <p:cxnSp>
        <p:nvCxnSpPr>
          <p:cNvPr id="42" name=""/>
          <p:cNvCxnSpPr>
            <a:stCxn xmlns:a="http://schemas.openxmlformats.org/drawingml/2006/main" id="4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V="1">
            <a:off x="571500" y="400050"/>
            <a:ext cx="7200900" cy="28479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DB9FF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 flipV="1">
            <a:off x="457200" y="400050"/>
            <a:ext cx="11029950" cy="28479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DB9FF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4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>
            <a:off x="4533900" y="3248025"/>
            <a:ext cx="3124200" cy="9239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DB9FF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4895850" y="2743200"/>
            <a:ext cx="2762250" cy="5048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DB9FF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EB69A-0FA0-4FC5-A14E-6F71CDA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Project Demo</a:t>
            </a:r>
          </a:p>
        </p:txBody>
      </p:sp>
    </p:spTree>
    <p:extLst>
      <p:ext uri="{BB962C8B-B14F-4D97-AF65-F5344CB8AC3E}">
        <p14:creationId xmlns:p14="http://schemas.microsoft.com/office/powerpoint/2010/main" val="186833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E67D19-5BBD-43B3-9629-8ECB9B5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8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3A78FF">
                    <a:alpha val="100000"/>
                  </a:srgbClr>
                </a:solidFill>
              </a:rPr>
              <a:t>FRONTEND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915A7-97DE-488C-BE88-5A19B495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2400" b="1" i="0">
                <a:solidFill>
                  <a:srgbClr val="10224F">
                    <a:alpha val="100000"/>
                  </a:srgbClr>
                </a:solidFill>
              </a:rPr>
              <a:t>A synchronized command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90DD-A608-484F-BFC2-0364A8B0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The feed, map, detail dock, route planner, and weekly review are designed to update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D9ED5-1225-41B2-9C74-DC8F950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477500" cy="4324350"/>
          </a:xfrm>
          <a:prstGeom xmlns:a="http://schemas.openxmlformats.org/drawingml/2006/main" prst="roundRect">
            <a:avLst>
              <a:gd name="adj" fmla="val 5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EFBDD-151F-4436-A11C-58C1A79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667000" cy="38862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2ADDA-DCFB-4365-8A1F-583802CF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66900"/>
            <a:ext cx="5143500" cy="3886200"/>
          </a:xfrm>
          <a:prstGeom xmlns:a="http://schemas.openxmlformats.org/drawingml/2006/main" prst="roundRect">
            <a:avLst>
              <a:gd name="adj" fmla="val 5882"/>
            </a:avLst>
          </a:prstGeom>
          <a:gradFill xmlns:a="http://schemas.openxmlformats.org/drawingml/2006/main">
            <a:gsLst>
              <a:gs pos="0">
                <a:srgbClr val="EDF3FF"/>
              </a:gs>
              <a:gs pos="100000">
                <a:srgbClr val="F8FBFF"/>
              </a:gs>
            </a:gsLst>
            <a:lin ang="10800000"/>
          </a:gra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AD0EA-C214-4596-8E11-A8A7A86C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184785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1CB47-705C-4F26-A07F-1B975DC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1847850" cy="14478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B1B47-B361-4735-A3B4-42F7879B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2324100" cy="571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A907B-EADB-4222-A0EA-E7C0E568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2324100" cy="571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AD9CD-0C4C-4E16-B362-F50EAFD0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2324100" cy="571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C7EC5-6950-4CA0-B796-CA973D52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2324100" cy="571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30140-E9AD-474A-BA74-B77D317F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1A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42A4A-EFAD-4566-AD8F-83FCE98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F4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A8387-8B6D-42EA-9F01-4747208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D3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C3509-4747-4382-9C55-CE4F870B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3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87FB0-8E1C-4A8D-84FD-A8928CC8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3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Operations 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C9BB1-70B5-45D9-86BA-C178F4E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Interactive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19317-B08B-4B77-9C07-15D69D6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Detail Dock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C3494-C9C4-446C-8455-8A684A7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7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Route Planner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9F656-31B7-4C32-915F-11F6785D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125" b="0" i="0">
                <a:solidFill>
                  <a:srgbClr val="64748B">
                    <a:alpha val="100000"/>
                  </a:srgbClr>
                </a:solidFill>
              </a:rPr>
              <a:t>Hotspot feed + week review 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A559-F75B-4A2C-9C7C-6D30426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72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125" b="0" i="0">
                <a:solidFill>
                  <a:srgbClr val="64748B">
                    <a:alpha val="100000"/>
                  </a:srgbClr>
                </a:solidFill>
              </a:rPr>
              <a:t>Severity-coded map + police markers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79652-512D-415B-AFD1-5AE4F79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72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125" b="0" i="0">
                <a:solidFill>
                  <a:srgbClr val="64748B">
                    <a:alpha val="100000"/>
                  </a:srgbClr>
                </a:solidFill>
              </a:rPr>
              <a:t>Field plan + route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B2768-03C9-4452-900B-587CE62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Project Demo</a:t>
            </a:r>
          </a:p>
        </p:txBody>
      </p:sp>
    </p:spTree>
    <p:extLst>
      <p:ext uri="{BB962C8B-B14F-4D97-AF65-F5344CB8AC3E}">
        <p14:creationId xmlns:p14="http://schemas.microsoft.com/office/powerpoint/2010/main" val="109024138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8FB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D2DD8-1BC6-4803-9309-838EE799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8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3A78FF">
                    <a:alpha val="100000"/>
                  </a:srgbClr>
                </a:solidFill>
              </a:rPr>
              <a:t>BACKEND + API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DFDEB-D2C5-4172-9BEF-1357262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2400" b="1" i="0">
                <a:solidFill>
                  <a:srgbClr val="10224F">
                    <a:alpha val="100000"/>
                  </a:srgbClr>
                </a:solidFill>
              </a:rPr>
              <a:t>FastAPI as the command fabric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72E7F-A969-4DCF-B78F-4195CC9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The UI is served directly by FastAPI and backed by dedicated endpoints for scoring, routing, review, and weekly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BF205-7F33-454A-98B9-836312F6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667000" cy="3619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2BB35-9AC3-4868-B090-22E21162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486150" cy="3619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5FF3D-F56A-4D76-99B8-84F43293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3048000" cy="36195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6FC8B-995F-4BA0-AF39-7A97B4A1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Frontend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0D591-609F-4739-8131-E9524B6A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Dashboard shell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6749-032D-4041-9EDE-DE546837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Operations tab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5067D-AA30-4BBD-8624-75A39C4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Weekly review tab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7FB7A-A06A-4193-821D-0E03165B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Route 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FC100-0A8D-40C7-92AB-4378C3A9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Correction 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A3BE8-4912-4D88-B394-BA8A1863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FastAPI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AC35D-740A-4F21-A1FD-2A2419C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/dashboard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6FFBE-04B3-46F0-BF29-5C8130DE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/dashboard/day/{date}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61E89-10CF-4AEA-BE8D-B329017E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/routes/recommend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44908-3029-4F9D-B77D-9358A677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/feedback/log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D2CC6-4084-4362-AB3F-ACF708D5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/learning/state + /learning/retrain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CAD56-58F5-48B7-97A9-04BB861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800" b="1" i="0">
                <a:solidFill>
                  <a:srgbClr val="10224F">
                    <a:alpha val="100000"/>
                  </a:srgbClr>
                </a:solidFill>
              </a:rPr>
              <a:t>Engine +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499D3-FF92-4EEF-A0DF-EE8D209C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Impact scoring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495C2-823F-45D0-902F-D20FC7B8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Resource recommendation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DBA35-2D79-4F04-8A6D-4339113E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Diversion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0CECD-DD84-4F9F-854A-F2F5FFB4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Weekly retraining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DE456-198E-4A45-8011-9645E5DD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• Feedback log persistence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67100" y="3657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A78FF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81900" y="3657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A78FF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CCB85-B836-4AD1-918D-F19B3AAF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Project Demo</a:t>
            </a:r>
          </a:p>
        </p:txBody>
      </p:sp>
    </p:spTree>
    <p:extLst>
      <p:ext uri="{BB962C8B-B14F-4D97-AF65-F5344CB8AC3E}">
        <p14:creationId xmlns:p14="http://schemas.microsoft.com/office/powerpoint/2010/main" val="1011680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5373C-EF3A-4370-9A4F-26A69DDD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8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3A78FF">
                    <a:alpha val="100000"/>
                  </a:srgbClr>
                </a:solidFill>
              </a:rPr>
              <a:t>INTELLIGENCE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AC5FC-8B38-45FD-9995-E7859151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2400" b="1" i="0">
                <a:solidFill>
                  <a:srgbClr val="10224F">
                    <a:alpha val="100000"/>
                  </a:srgbClr>
                </a:solidFill>
              </a:rPr>
              <a:t>From raw event signals to operational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83B29-A538-47D4-8E25-00081184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GridLock converts event attributes and spatial context into clear field recommendations.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C9D09-A65C-4D83-B863-60ECDCB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A22CB-79E8-4FD6-AFCC-C34FF42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2000250" cy="20193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B8BAA-423D-459B-B6DF-6699E809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725" b="1" i="0">
                <a:solidFill>
                  <a:srgbClr val="10224F">
                    <a:alpha val="100000"/>
                  </a:srgbClr>
                </a:solidFill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18037-A1BE-4BCC-8D6E-A9A04F97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Event cause, priority, road closure, location, time, attendance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F167E-5375-448B-B50E-4ABE448B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2000250" cy="2019300"/>
          </a:xfrm>
          <a:prstGeom xmlns:a="http://schemas.openxmlformats.org/drawingml/2006/main" prst="roundRect">
            <a:avLst>
              <a:gd name="adj" fmla="val 11429"/>
            </a:avLst>
          </a:prstGeom>
          <a:gradFill xmlns:a="http://schemas.openxmlformats.org/drawingml/2006/main">
            <a:gsLst>
              <a:gs pos="0">
                <a:srgbClr val="EEF4FF"/>
              </a:gs>
              <a:gs pos="100000">
                <a:srgbClr val="F9FBFF"/>
              </a:gs>
            </a:gsLst>
            <a:lin ang="10800000"/>
          </a:gra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0D420-38ED-4D3D-AB0D-714BAD37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9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725" b="1" i="0">
                <a:solidFill>
                  <a:srgbClr val="10224F">
                    <a:alpha val="100000"/>
                  </a:srgbClr>
                </a:solidFill>
              </a:rPr>
              <a:t>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83FB7-FC8D-4588-A1C3-B3184C9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Impact score, risk level, hotspot context, corridor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9CD98-488F-4DB7-BEEB-4E460E1C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000250" cy="20193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5E3AC-C838-496E-9BD2-0C8E6DC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725" b="1" i="0">
                <a:solidFill>
                  <a:srgbClr val="10224F">
                    <a:alpha val="100000"/>
                  </a:srgbClr>
                </a:solidFill>
              </a:rPr>
              <a:t>Recommendations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F2C33-FC74-449D-B1E0-DD2FF31E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Officers, barricades, diversions, route alternatives, alert level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5D3F0-061C-4DC8-B772-B61D8F62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000250" cy="20193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681E0-DEDE-4977-A653-415C3FB4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725" b="1" i="0">
                <a:solidFill>
                  <a:srgbClr val="10224F">
                    <a:alpha val="100000"/>
                  </a:srgbClr>
                </a:solidFill>
              </a:rPr>
              <a:t>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02AE3-92C9-426E-853D-7AC3AE53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275" b="0" i="0">
                <a:solidFill>
                  <a:srgbClr val="64748B">
                    <a:alpha val="100000"/>
                  </a:srgbClr>
                </a:solidFill>
              </a:rPr>
              <a:t>Feedback log, weekly correction, state update, archived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10D92-507C-4E10-A6EF-69CFA3D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813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8FF"/>
          </a:solidFill>
          <a:ln xmlns:a="http://schemas.openxmlformats.org/drawingml/2006/main" w="0">
            <a:solidFill>
              <a:srgbClr val="3A7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77D96-F313-45AA-892E-45CC6D3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8FF"/>
          </a:solidFill>
          <a:ln xmlns:a="http://schemas.openxmlformats.org/drawingml/2006/main" w="0">
            <a:solidFill>
              <a:srgbClr val="3A7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9AA61-CD84-4379-B904-05D8762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813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8FF"/>
          </a:solidFill>
          <a:ln xmlns:a="http://schemas.openxmlformats.org/drawingml/2006/main" w="0">
            <a:solidFill>
              <a:srgbClr val="3A78FF"/>
            </a:solidFill>
            <a:prstDash val="solid"/>
          </a:ln>
        </p:spPr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8229600" y="4629150"/>
          <a:ext xmlns:a="http://schemas.openxmlformats.org/drawingml/2006/main" cx="2476500" cy="704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d7f27557a24ae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C74C2-EBE0-42C3-81F0-2B4FCCA8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Project Demo</a:t>
            </a:r>
          </a:p>
        </p:txBody>
      </p:sp>
    </p:spTree>
    <p:extLst>
      <p:ext uri="{BB962C8B-B14F-4D97-AF65-F5344CB8AC3E}">
        <p14:creationId xmlns:p14="http://schemas.microsoft.com/office/powerpoint/2010/main" val="1621422647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8FB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21A7A-0067-4CCE-B7B9-9161642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8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3A78FF">
                    <a:alpha val="100000"/>
                  </a:srgbClr>
                </a:solidFill>
              </a:rPr>
              <a:t>WEEKLY CORRECTION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16459-2253-469C-895B-00411661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2400" b="1" i="0">
                <a:solidFill>
                  <a:srgbClr val="10224F">
                    <a:alpha val="100000"/>
                  </a:srgbClr>
                </a:solidFill>
              </a:rPr>
              <a:t>The product gets sharper every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94A52-9BE4-4105-BFD6-D250B7FD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Operators log what actually happened in the field, then GridLock recalibrates the engine and preserves the weekly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F3C22-E5DD-4C34-A78B-770C1D5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226695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2A73"/>
          </a:solidFill>
          <a:ln xmlns:a="http://schemas.openxmlformats.org/drawingml/2006/main" w="9525">
            <a:solidFill>
              <a:srgbClr val="0A2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D28FC-1618-4806-BA76-5A17AA2A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33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2100" b="1" i="0">
                <a:solidFill>
                  <a:srgbClr val="FFFFFF">
                    <a:alpha val="100000"/>
                  </a:srgbClr>
                </a:solidFill>
              </a:rPr>
              <a:t>Weekly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14716-F866-4755-B71C-70F153C3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E7EEFF">
                    <a:alpha val="100000"/>
                  </a:srgbClr>
                </a:solidFill>
              </a:defRPr>
            </a:pPr>
            <a:r>
              <a:rPr sz="1125" b="0" i="0">
                <a:solidFill>
                  <a:srgbClr val="E7EEFF">
                    <a:alpha val="100000"/>
                  </a:srgbClr>
                </a:solidFill>
              </a:rPr>
              <a:t>From feedback log to improved recommendations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5DB86-F5DD-4FD8-9829-E33B59A3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20002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866A3-B02D-4F72-8D32-D7AABF5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748B3-0744-45F0-8578-938DCF6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050" b="0" i="0">
                <a:solidFill>
                  <a:srgbClr val="64748B">
                    <a:alpha val="100000"/>
                  </a:srgbClr>
                </a:solidFill>
              </a:rPr>
              <a:t>Operators log actual impact and severity.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169B4-B066-4168-B709-EF4542EA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0002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A48CA-E952-451A-8E30-4E63A064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Retrain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A2A1-D8CA-448C-9EA7-E4432254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050" b="0" i="0">
                <a:solidFill>
                  <a:srgbClr val="64748B">
                    <a:alpha val="100000"/>
                  </a:srgbClr>
                </a:solidFill>
              </a:rPr>
              <a:t>Weekly correction updates learning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6D86E-3B18-4F1E-AD14-96126234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20002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6EFCE-7989-42FC-936F-187E39F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5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Archive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13C53-7157-4127-AC9C-0CDA7965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57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050" b="0" i="0">
                <a:solidFill>
                  <a:srgbClr val="64748B">
                    <a:alpha val="100000"/>
                  </a:srgbClr>
                </a:solidFill>
              </a:rPr>
              <a:t>Per-week summaries remain accessible.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C1FF4-6ECB-44CA-9F77-D1DA28E4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0002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0BAE8-7634-42FA-A5CF-ECF79D9E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650" b="1" i="0">
                <a:solidFill>
                  <a:srgbClr val="10224F">
                    <a:alpha val="100000"/>
                  </a:srgbClr>
                </a:solidFill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D3A18-4E6F-4CA5-9C3A-06E79596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050" b="0" i="0">
                <a:solidFill>
                  <a:srgbClr val="64748B">
                    <a:alpha val="100000"/>
                  </a:srgbClr>
                </a:solidFill>
              </a:rPr>
              <a:t>Predicted vs actual outcomes are measured.</a:t>
            </a:r>
          </a:p>
        </p:txBody>
      </p:sp>
      <p:cxnSp>
        <p:nvCxnSpPr>
          <p:cNvPr id="42" name=""/>
          <p:cNvCxnSpPr>
            <a:stCxn xmlns:a="http://schemas.openxmlformats.org/drawingml/2006/main" id="4" idx="1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953000" y="2209800"/>
            <a:ext cx="9525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DB9FF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19950" y="3209925"/>
            <a:ext cx="190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DB9FF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86475" y="3810000"/>
            <a:ext cx="628650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DB9FF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4" idx="1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429125" y="3009900"/>
            <a:ext cx="52387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DB9FF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B23A5-AD8C-4FF4-83CE-F40A3580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Project Demo</a:t>
            </a:r>
          </a:p>
        </p:txBody>
      </p:sp>
    </p:spTree>
    <p:extLst>
      <p:ext uri="{BB962C8B-B14F-4D97-AF65-F5344CB8AC3E}">
        <p14:creationId xmlns:p14="http://schemas.microsoft.com/office/powerpoint/2010/main" val="717004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D6EE3-405D-4730-8052-B26145B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8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3A78FF">
                    <a:alpha val="100000"/>
                  </a:srgbClr>
                </a:solidFill>
              </a:rPr>
              <a:t>LIVE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1C312-6E87-405B-9B59-45E1BDC6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2400" b="1" i="0">
                <a:solidFill>
                  <a:srgbClr val="10224F">
                    <a:alpha val="100000"/>
                  </a:srgbClr>
                </a:solidFill>
              </a:rPr>
              <a:t>The 90-second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354F-C23C-4A46-8545-67CFDBD5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</a:rPr>
              <a:t>This is the fast-paced sequence that shows the product value without slowing the audience down.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4C1E8-12E3-4A19-9C32-6692C69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7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37785-EB4C-448D-9B27-23AE7ED0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609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1350" b="1" i="0">
                <a:solidFill>
                  <a:srgbClr val="FFFFFF">
                    <a:alpha val="100000"/>
                  </a:srgbClr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6397F-3E1E-4991-A443-260D8238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24F">
                    <a:alpha val="100000"/>
                  </a:srgbClr>
                </a:solidFill>
              </a:defRPr>
            </a:pPr>
            <a:r>
              <a:rPr sz="1200" b="0" i="0">
                <a:solidFill>
                  <a:srgbClr val="10224F">
                    <a:alpha val="100000"/>
                  </a:srgbClr>
                </a:solidFill>
              </a:rPr>
              <a:t>Open dashboard and establish city command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B6D0E-AE28-4542-9481-E7F262FF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479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FF"/>
          </a:solidFill>
          <a:ln xmlns:a="http://schemas.openxmlformats.org/drawingml/2006/main" w="0">
            <a:solidFill>
              <a:srgbClr val="9DB9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65EB2-4198-42AC-8DC8-EA488123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7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E063-8BC5-4CCD-AC3C-58DE041D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09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1350" b="1" i="0">
                <a:solidFill>
                  <a:srgbClr val="FFFFFF">
                    <a:alpha val="100000"/>
                  </a:srgbClr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F6ACC-A7C6-445C-8663-7C979AAE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4325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24F">
                    <a:alpha val="100000"/>
                  </a:srgbClr>
                </a:solidFill>
              </a:defRPr>
            </a:pPr>
            <a:r>
              <a:rPr sz="1200" b="0" i="0">
                <a:solidFill>
                  <a:srgbClr val="10224F">
                    <a:alpha val="100000"/>
                  </a:srgbClr>
                </a:solidFill>
              </a:rPr>
              <a:t>Click a hotspot to sync feed, map, and detail dock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C5FAD-75B3-470C-BFCA-6CC1853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479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FF"/>
          </a:solidFill>
          <a:ln xmlns:a="http://schemas.openxmlformats.org/drawingml/2006/main" w="0">
            <a:solidFill>
              <a:srgbClr val="9DB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D2EB6-A363-4D89-922F-D260D333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7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01DE4-EA69-4626-8CE8-B292F46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09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1350" b="1" i="0">
                <a:solidFill>
                  <a:srgbClr val="FFFFFF">
                    <a:alpha val="100000"/>
                  </a:srgbClr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251C9-900E-4A66-92D7-1683BCEB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24F">
                    <a:alpha val="100000"/>
                  </a:srgbClr>
                </a:solidFill>
              </a:defRPr>
            </a:pPr>
            <a:r>
              <a:rPr sz="1200" b="0" i="0">
                <a:solidFill>
                  <a:srgbClr val="10224F">
                    <a:alpha val="100000"/>
                  </a:srgbClr>
                </a:solidFill>
              </a:rPr>
              <a:t>Show route recommendation around impact 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5F739-A9A3-4CB7-8F9E-1F8E4A49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FF"/>
          </a:solidFill>
          <a:ln xmlns:a="http://schemas.openxmlformats.org/drawingml/2006/main" w="0">
            <a:solidFill>
              <a:srgbClr val="9DB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942FA-AC5E-4D37-9C52-A874CCFF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7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432B7-D2B7-4723-900F-C67106F7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1350" b="1" i="0">
                <a:solidFill>
                  <a:srgbClr val="FFFFFF">
                    <a:alpha val="100000"/>
                  </a:srgbClr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15052-FB4B-43CB-83DA-2D5BE03A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4325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24F">
                    <a:alpha val="100000"/>
                  </a:srgbClr>
                </a:solidFill>
              </a:defRPr>
            </a:pPr>
            <a:r>
              <a:rPr sz="1200" b="0" i="0">
                <a:solidFill>
                  <a:srgbClr val="10224F">
                    <a:alpha val="100000"/>
                  </a:srgbClr>
                </a:solidFill>
              </a:rPr>
              <a:t>Jump to calendar/week selector for operational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242CD-D3A1-421D-9BCA-4C8C69CD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479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FF"/>
          </a:solidFill>
          <a:ln xmlns:a="http://schemas.openxmlformats.org/drawingml/2006/main" w="0">
            <a:solidFill>
              <a:srgbClr val="9DB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0BBFA-F89A-4793-B283-2B88DFF2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7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6CCDE-557F-410D-8312-60641925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1350" b="1" i="0">
                <a:solidFill>
                  <a:srgbClr val="FFFFFF">
                    <a:alpha val="100000"/>
                  </a:srgbClr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7B6EC-BCB7-4E21-9E5E-2F20C1E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24F">
                    <a:alpha val="100000"/>
                  </a:srgbClr>
                </a:solidFill>
              </a:defRPr>
            </a:pPr>
            <a:r>
              <a:rPr sz="1200" b="0" i="0">
                <a:solidFill>
                  <a:srgbClr val="10224F">
                    <a:alpha val="100000"/>
                  </a:srgbClr>
                </a:solidFill>
              </a:rPr>
              <a:t>Open Weekly Review and show feedback capture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DC1D1-66E5-43CD-9FED-4B119B8C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FF"/>
          </a:solidFill>
          <a:ln xmlns:a="http://schemas.openxmlformats.org/drawingml/2006/main" w="0">
            <a:solidFill>
              <a:srgbClr val="9DB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44CCD-AF42-47F8-99F6-8654AF7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1A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5CE47-6259-42A2-90C1-EF4F1915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09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1350" b="1" i="0">
                <a:solidFill>
                  <a:srgbClr val="FFFFFF">
                    <a:alpha val="100000"/>
                  </a:srgbClr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2481F-DD2B-4224-AAF6-82A36FB1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4325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200" b="1" i="0">
                <a:solidFill>
                  <a:srgbClr val="10224F">
                    <a:alpha val="100000"/>
                  </a:srgbClr>
                </a:solidFill>
              </a:rPr>
              <a:t>Run Weekly Correction and reveal stored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67523-B78E-4717-B78A-9A93E910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29150"/>
            <a:ext cx="6210300" cy="876300"/>
          </a:xfrm>
          <a:prstGeom xmlns:a="http://schemas.openxmlformats.org/drawingml/2006/main" prst="roundRect">
            <a:avLst>
              <a:gd name="adj" fmla="val 26087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DF4FF"/>
              </a:gs>
            </a:gsLst>
            <a:lin ang="10800000"/>
          </a:gradFill>
          <a:ln xmlns:a="http://schemas.openxmlformats.org/drawingml/2006/main" w="9525">
            <a:solidFill>
              <a:srgbClr val="CF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9CF5D-F21F-4FB6-874F-14C94B0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768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24F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10224F">
                    <a:alpha val="100000"/>
                  </a:srgbClr>
                </a:solidFill>
              </a:rPr>
              <a:t>Goal: make every click trigger a visible update and end on the correction archive as the product memory moment.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2FA1C3-47AA-49D0-9152-649E74B0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Project Demo</a:t>
            </a:r>
          </a:p>
        </p:txBody>
      </p:sp>
    </p:spTree>
    <p:extLst>
      <p:ext uri="{BB962C8B-B14F-4D97-AF65-F5344CB8AC3E}">
        <p14:creationId xmlns:p14="http://schemas.microsoft.com/office/powerpoint/2010/main" val="140298731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2A73"/>
            </a:gs>
            <a:gs pos="100000">
              <a:srgbClr val="1E4FAF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49899-8143-47A2-90D3-E655EDEC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CCFF">
                    <a:alpha val="100000"/>
                  </a:srgbClr>
                </a:solidFill>
              </a:defRPr>
            </a:pPr>
            <a:r>
              <a:rPr sz="975" b="1" i="0">
                <a:solidFill>
                  <a:srgbClr val="B8CCFF">
                    <a:alpha val="100000"/>
                  </a:srgbClr>
                </a:solidFill>
              </a:rPr>
              <a:t>WHY IT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7DD6B-D036-491B-AF9D-B8A554D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3150" b="1" i="0">
                <a:solidFill>
                  <a:srgbClr val="FFFFFF">
                    <a:alpha val="100000"/>
                  </a:srgbClr>
                </a:solidFill>
              </a:rPr>
              <a:t>From reactive traffic management to adaptive city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F8059-E678-4106-9FE3-1EEC1B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FBA09-B8EC-458E-84B2-E4DED06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2100" b="1" i="0">
                <a:solidFill>
                  <a:srgbClr val="FFFFFF">
                    <a:alpha val="100000"/>
                  </a:srgbClr>
                </a:solidFill>
              </a:rPr>
              <a:t>Operational clarity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C9684-AF32-422E-A2A2-DBA07951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FE8FF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DFE8FF">
                    <a:alpha val="100000"/>
                  </a:srgbClr>
                </a:solidFill>
              </a:rPr>
              <a:t>One surface for hotspots, maps, response plans, and route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6A696-5844-40EA-83AA-42986AE1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1F3D3-6DC2-462A-AF58-A6A39A92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2100" b="1" i="0">
                <a:solidFill>
                  <a:srgbClr val="FFFFFF">
                    <a:alpha val="100000"/>
                  </a:srgbClr>
                </a:solidFill>
              </a:rPr>
              <a:t>Actionable backend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17A03-D28B-4EA8-9BB2-A6982D9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FE8FF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DFE8FF">
                    <a:alpha val="100000"/>
                  </a:srgbClr>
                </a:solidFill>
              </a:rPr>
              <a:t>Scores, diversions, station context, and route logic are exposed through clean APIs.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48EE7-CFC4-407F-A57B-1BF17D9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564CC-8659-4CB5-A48A-8DC42482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>
                    <a:alpha val="100000"/>
                  </a:srgbClr>
                </a:solidFill>
              </a:defRPr>
            </a:pPr>
            <a:r>
              <a:rPr sz="2100" b="1" i="0">
                <a:solidFill>
                  <a:srgbClr val="FFFFFF">
                    <a:alpha val="100000"/>
                  </a:srgbClr>
                </a:solidFill>
              </a:rPr>
              <a:t>A system that learns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88A6D-BC1A-4CBF-8330-3044216C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FE8FF">
                    <a:alpha val="100000"/>
                  </a:srgbClr>
                </a:solidFill>
              </a:defRPr>
            </a:pPr>
            <a:r>
              <a:rPr sz="1350" b="0" i="0">
                <a:solidFill>
                  <a:srgbClr val="DFE8FF">
                    <a:alpha val="100000"/>
                  </a:srgbClr>
                </a:solidFill>
              </a:rPr>
              <a:t>Weekly correction closes the loop with real field feedback and preserved weekly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813D7-493B-4EE4-8FE3-8E17640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• Adaptive Command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61111249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8FB"/>
            </a:gs>
            <a:gs pos="100000">
              <a:srgbClr val="FFFFFF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EB2CF-55F8-4F26-B494-79D341AA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865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A78FF">
                  <a:alpha val="20000"/>
                </a:srgbClr>
              </a:gs>
              <a:gs pos="75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9837C-8901-4B22-BB53-54837B6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A2A73"/>
                </a:solidFill>
              </a:defRPr>
            </a:pPr>
            <a:r>
              <a:rPr sz="975" b="1">
                <a:solidFill>
                  <a:srgbClr val="0A2A73"/>
                </a:solidFill>
              </a:rPr>
              <a:t>PROJECT DEMO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C1BAE-0BFA-4A92-ABDB-3C54F5A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3750" b="1" i="0">
                <a:solidFill>
                  <a:srgbClr val="10224F">
                    <a:alpha val="100000"/>
                  </a:srgbClr>
                </a:solidFill>
              </a:rPr>
              <a:t>GridLock turns city traffic operations into a live, learning command platform.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B55A4-2CAB-4E58-872E-6586C0A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1800" b="0" i="0">
                <a:solidFill>
                  <a:srgbClr val="64748B">
                    <a:alpha val="100000"/>
                  </a:srgbClr>
                </a:solidFill>
              </a:rPr>
              <a:t>Monitor the city, prioritize the right hotspots, route around disruption, and get smarter after every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351D7-5462-4B01-B11F-055DC77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4000500" cy="114300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FF4FF"/>
              </a:gs>
            </a:gsLst>
            <a:lin ang="10800000"/>
          </a:gradFill>
          <a:ln xmlns:a="http://schemas.openxmlformats.org/drawingml/2006/main" w="9525">
            <a:solidFill>
              <a:srgbClr val="CF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9DB20-B938-4A0A-913F-13C69A47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500" b="1" i="0">
                <a:solidFill>
                  <a:srgbClr val="10224F">
                    <a:alpha val="100000"/>
                  </a:srgbClr>
                </a:solidFill>
              </a:rPr>
              <a:t>Frontend + Backend + Engine + Learning Loop</a:t>
            </a:r>
          </a:p>
          <a:p xmlns:a="http://schemas.openxmlformats.org/drawingml/2006/main">
            <a:pPr algn="l">
              <a:defRPr sz="1500" b="1" i="0">
                <a:solidFill>
                  <a:srgbClr val="10224F">
                    <a:alpha val="100000"/>
                  </a:srgbClr>
                </a:solidFill>
              </a:defRPr>
            </a:pPr>
            <a:r>
              <a:rPr sz="1500" b="1" i="0">
                <a:solidFill>
                  <a:srgbClr val="10224F">
                    <a:alpha val="100000"/>
                  </a:srgbClr>
                </a:solidFill>
              </a:rPr>
              <a:t>all presented as one demoable product 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7D954-199A-43FC-A1F9-FE3252A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>
                    <a:alpha val="100000"/>
                  </a:srgbClr>
                </a:solidFill>
              </a:defRPr>
            </a:pPr>
            <a:r>
              <a:rPr sz="825" b="0" i="0">
                <a:solidFill>
                  <a:srgbClr val="64748B">
                    <a:alpha val="100000"/>
                  </a:srgbClr>
                </a:solidFill>
              </a:rPr>
              <a:t>GridLock • End of Demo Deck</a:t>
            </a:r>
          </a:p>
        </p:txBody>
      </p:sp>
    </p:spTree>
    <p:extLst>
      <p:ext uri="{BB962C8B-B14F-4D97-AF65-F5344CB8AC3E}">
        <p14:creationId xmlns:p14="http://schemas.microsoft.com/office/powerpoint/2010/main" val="865849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2026-06-17T18:43:28.8710000Z</dcterms:created>
  <dcterms:modified xsi:type="dcterms:W3CDTF">2026-06-17T18:43:28.8750000Z</dcterms:modified>
</coreProperties>
</file>